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Introduce yourself: Michelle Hirsch, MathWorks — you work on MATLAB tooling</a:t>
            </a:r>
          </a:p>
          <a:p>
            <a:r>
              <a:t>• Frame the surprise: most of what you'll hear about AI in engineering is code generation</a:t>
            </a:r>
          </a:p>
          <a:p>
            <a:r>
              <a:t>• Your experience was different — it was design collaboration</a:t>
            </a:r>
          </a:p>
          <a:p>
            <a:r>
              <a:t>• Two concrete projects as evidence — not theory, not demos, actual work products</a:t>
            </a:r>
          </a:p>
          <a:p>
            <a:r>
              <a:t>• This is a practitioner report: honest, specific, no hype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Project 1: The MATLAB documentation framework</a:t>
            </a:r>
          </a:p>
          <a:p>
            <a:r>
              <a:t>  - The idea: .m help comments should render as rich HTML when you call doc()</a:t>
            </a:r>
          </a:p>
          <a:p>
            <a:r>
              <a:t>  - Like what mkdocstrings does for Python — but for MATLAB</a:t>
            </a:r>
          </a:p>
          <a:p>
            <a:r>
              <a:t>  - The design challenge: what grammar? what sections? how do arguments get documented?</a:t>
            </a:r>
          </a:p>
          <a:p>
            <a:r>
              <a:t>  - Work products: 720-line living spec, 40+ sample .m files (7 versions of rescale, 6 of Sensor class), working prototype</a:t>
            </a:r>
          </a:p>
          <a:p>
            <a:r>
              <a:t>  - This was almost entirely design work — grammar design, tradeoff analysis, decision records</a:t>
            </a:r>
          </a:p>
          <a:p/>
          <a:p>
            <a:r>
              <a:t>• Project 2: Config file I/O for MATLAB</a:t>
            </a:r>
          </a:p>
          <a:p>
            <a:r>
              <a:t>  - YAML, TOML, INI, JSON readers and writers</a:t>
            </a:r>
          </a:p>
          <a:p>
            <a:r>
              <a:t>  - The interesting design decisions: should config data be struct (easy but weak) or typed classes?</a:t>
            </a:r>
          </a:p>
          <a:p>
            <a:r>
              <a:t>  - Went with typed classes: YAMLData, TOMLData, INIData, JSONData</a:t>
            </a:r>
          </a:p>
          <a:p>
            <a:r>
              <a:t>  - Discovered they share structure → extracted shared ConfigData base class</a:t>
            </a:r>
          </a:p>
          <a:p>
            <a:r>
              <a:t>  - Designed all 4 simultaneously → forced consistent API across formats</a:t>
            </a:r>
          </a:p>
          <a:p/>
          <a:p>
            <a:r>
              <a:t>• Neither project was primarily about code — they were design collaborations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old way: any benchmarking required leaving the conversation</a:t>
            </a:r>
          </a:p>
          <a:p>
            <a:r>
              <a:t>  - Open browser, read docs, come back — broke the design flow</a:t>
            </a:r>
          </a:p>
          <a:p>
            <a:r>
              <a:t>  - "I'll look that up later" often meant never</a:t>
            </a:r>
          </a:p>
          <a:p>
            <a:r>
              <a:t>  - Context switch is expensive</a:t>
            </a:r>
          </a:p>
          <a:p/>
          <a:p>
            <a:r>
              <a:t>• The new way: ask inline, get answer, continue</a:t>
            </a:r>
          </a:p>
          <a:p>
            <a:r>
              <a:t>  - No interruption to the design conversation</a:t>
            </a:r>
          </a:p>
          <a:p>
            <a:r>
              <a:t>  - Benchmarking became part of the conversation, not a detour</a:t>
            </a:r>
          </a:p>
          <a:p/>
          <a:p>
            <a:r>
              <a:t>• Concrete example from the doc framework:</a:t>
            </a:r>
          </a:p>
          <a:p>
            <a:r>
              <a:t>  - Decision: how should argument short-descriptions work in our grammar?</a:t>
            </a:r>
          </a:p>
          <a:p>
            <a:r>
              <a:t>  - Immediately checked how Sphinx, mkdocstrings, and Javadoc handle it</a:t>
            </a:r>
          </a:p>
          <a:p>
            <a:r>
              <a:t>  - Compared approaches, chose the best for our use case, moved on</a:t>
            </a:r>
          </a:p>
          <a:p>
            <a:r>
              <a:t>  - The whole thing took maybe 3 minutes inside the existing conversation</a:t>
            </a:r>
          </a:p>
          <a:p/>
          <a:p>
            <a:r>
              <a:t>• Config format examples:</a:t>
            </a:r>
          </a:p>
          <a:p>
            <a:r>
              <a:t>  - TOML spec edge cases (e.g., how does multiline string escaping work?)</a:t>
            </a:r>
          </a:p>
          <a:p>
            <a:r>
              <a:t>  - How Python's tomllib handles ambiguous cases</a:t>
            </a:r>
          </a:p>
          <a:p>
            <a:r>
              <a:t>  - What options real users actually need vs. rarely use</a:t>
            </a:r>
          </a:p>
          <a:p>
            <a:r>
              <a:t>  - All checked while designing the API — zero context switch</a:t>
            </a:r>
          </a:p>
          <a:p/>
          <a:p>
            <a:r>
              <a:t>• The point: Benchmarking is no longer a separate research phase.</a:t>
            </a:r>
          </a:p>
          <a:p>
            <a:r>
              <a:t>  It's integrated into the design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grammar was validated by building real examples, not by reviewing the spec</a:t>
            </a:r>
          </a:p>
          <a:p/>
          <a:p>
            <a:r>
              <a:t>• 7 progressively documented versions of rescale():</a:t>
            </a:r>
          </a:p>
          <a:p>
            <a:r>
              <a:t>  - v0: bare function, just the arguments block (auto-generated minimal page)</a:t>
            </a:r>
          </a:p>
          <a:p>
            <a:r>
              <a:t>  - v1: add first-line synopsis only</a:t>
            </a:r>
          </a:p>
          <a:p>
            <a:r>
              <a:t>  - v2: add trailing comments on argument lines (short descriptions)</a:t>
            </a:r>
          </a:p>
          <a:p>
            <a:r>
              <a:t>  - v3: add block comments before argument lines (longer descriptions)</a:t>
            </a:r>
          </a:p>
          <a:p>
            <a:r>
              <a:t>  - v4: add a full ## Input Arguments section</a:t>
            </a:r>
          </a:p>
          <a:p>
            <a:r>
              <a:t>  - v5: full documentation with Examples and Tips</a:t>
            </a:r>
          </a:p>
          <a:p>
            <a:r>
              <a:t>  - v6/v7: testing edge cases and class documentation</a:t>
            </a:r>
          </a:p>
          <a:p/>
          <a:p>
            <a:r>
              <a:t>• Also 6 versions of a Sensor class — validating class-specific features</a:t>
            </a:r>
          </a:p>
          <a:p>
            <a:r>
              <a:t>  (properties, methods, events)</a:t>
            </a:r>
          </a:p>
          <a:p/>
          <a:p>
            <a:r>
              <a:t>• All of these were actually rendered as HTML using the working prototype</a:t>
            </a:r>
          </a:p>
          <a:p/>
          <a:p>
            <a:r>
              <a:t>• Key insight: things that look fine in a spec become obviously wrong</a:t>
            </a:r>
          </a:p>
          <a:p>
            <a:r>
              <a:t>  when you see real rendered output</a:t>
            </a:r>
          </a:p>
          <a:p>
            <a:r>
              <a:t>  - Visual hierarchy issues</a:t>
            </a:r>
          </a:p>
          <a:p>
            <a:r>
              <a:t>  - Awkward section headings</a:t>
            </a:r>
          </a:p>
          <a:p>
            <a:r>
              <a:t>  - Cases where "section wins" vs "merge" matters</a:t>
            </a:r>
          </a:p>
          <a:p/>
          <a:p>
            <a:r>
              <a:t>• For the config formats: working implementations meant design decisions</a:t>
            </a:r>
          </a:p>
          <a:p>
            <a:r>
              <a:t>  were validated against real YAML/TOML/INI/JSON files, not hypothetical ones</a:t>
            </a:r>
          </a:p>
          <a:p/>
          <a:p>
            <a:r>
              <a:t>• The point: rapid prototyping at low cost changes what you're willing to try.</a:t>
            </a:r>
          </a:p>
          <a:p>
            <a:r>
              <a:t>  You don't just design differently — you validate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spec has explicit "Rationale" and "Alternatives considered" sections throughout — not just decisions</a:t>
            </a:r>
          </a:p>
          <a:p/>
          <a:p>
            <a:r>
              <a:t>• Specific example: The "Syntax Description Gap"</a:t>
            </a:r>
          </a:p>
          <a:p>
            <a:r>
              <a:t>  - Structural tension in the grammar design</a:t>
            </a:r>
          </a:p>
          <a:p>
            <a:r>
              <a:t>  - If you want to add descriptions to individual calling forms (syntax variants),</a:t>
            </a:r>
          </a:p>
          <a:p>
            <a:r>
              <a:t>    you implicitly take ownership of listing ALL calling forms</a:t>
            </a:r>
          </a:p>
          <a:p>
            <a:r>
              <a:t>  - The auto-generated list from the arguments block can't be merged with a user-defined list</a:t>
            </a:r>
          </a:p>
          <a:p>
            <a:r>
              <a:t>  - Decision: "section wins entirely" — if you define a ## Syntax section, it completely</a:t>
            </a:r>
          </a:p>
          <a:p>
            <a:r>
              <a:t>    replaces the auto-generated one</a:t>
            </a:r>
          </a:p>
          <a:p>
            <a:r>
              <a:t>  - Rationale: documented in the spec with the tradeoffs explicitly stated</a:t>
            </a:r>
          </a:p>
          <a:p/>
          <a:p>
            <a:r>
              <a:t>• Why does this matter?</a:t>
            </a:r>
          </a:p>
          <a:p>
            <a:r>
              <a:t>  - Normally, design reasoning is lost the moment the meeting ends</a:t>
            </a:r>
          </a:p>
          <a:p>
            <a:r>
              <a:t>  - Engineers who come later have no idea WHY things are the way they are</a:t>
            </a:r>
          </a:p>
          <a:p>
            <a:r>
              <a:t>  - They either reverse decisions accidentally, or fear changing anything</a:t>
            </a:r>
          </a:p>
          <a:p>
            <a:r>
              <a:t>  - Having the rationale documented changes what future maintainers can do</a:t>
            </a:r>
          </a:p>
          <a:p/>
          <a:p>
            <a:r>
              <a:t>• Having AI in the loop made capturing rationale feel natural, not overhead</a:t>
            </a:r>
          </a:p>
          <a:p>
            <a:r>
              <a:t>  - Articulating "here's why we chose this" became part of the conversation</a:t>
            </a:r>
          </a:p>
          <a:p>
            <a:r>
              <a:t>  - The AI would sometimes surface considerations I hadn't thought of, which made</a:t>
            </a:r>
          </a:p>
          <a:p>
            <a:r>
              <a:t>    the rationale richer</a:t>
            </a:r>
          </a:p>
          <a:p/>
          <a:p>
            <a:r>
              <a:t>• The point: AI doesn't just help you make decisions — it helps you articulate</a:t>
            </a:r>
          </a:p>
          <a:p>
            <a:r>
              <a:t>  and document the reasoning behind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Without AI: I would have represented config data as plain struct</a:t>
            </a:r>
          </a:p>
          <a:p>
            <a:r>
              <a:t>  - MATLAB struct is familiar, easy, zero design effort</a:t>
            </a:r>
          </a:p>
          <a:p>
            <a:r>
              <a:t>  - Designing custom types felt too daunting: too many decisions, too much work</a:t>
            </a:r>
          </a:p>
          <a:p>
            <a:r>
              <a:t>  - The result would have been: functional but weak</a:t>
            </a:r>
          </a:p>
          <a:p/>
          <a:p>
            <a:r>
              <a:t>• With AI: We designed proper typed classes</a:t>
            </a:r>
          </a:p>
          <a:p>
            <a:r>
              <a:t>  - YAMLData, TOMLData, INIData, JSONData — each a proper typed class</a:t>
            </a:r>
          </a:p>
          <a:p>
            <a:r>
              <a:t>  - Conversations: what fields? what methods? what do you do with nested structures?</a:t>
            </a:r>
          </a:p>
          <a:p>
            <a:r>
              <a:t>  - Prototyped quickly enough that we could try things and see if they worked</a:t>
            </a:r>
          </a:p>
          <a:p/>
          <a:p>
            <a:r>
              <a:t>• Discovered shared structure → extracted ConfigData base class</a:t>
            </a:r>
          </a:p>
          <a:p>
            <a:r>
              <a:t>  - All 4 types had common fields and methods</a:t>
            </a:r>
          </a:p>
          <a:p>
            <a:r>
              <a:t>  - Natural refactoring: extract to a shared base class</a:t>
            </a:r>
          </a:p>
          <a:p>
            <a:r>
              <a:t>  - This wouldn't have happened if types started as structs</a:t>
            </a:r>
          </a:p>
          <a:p/>
          <a:p>
            <a:r>
              <a:t>• The cross-format consistency point:</a:t>
            </a:r>
          </a:p>
          <a:p>
            <a:r>
              <a:t>  - Working on all 4 simultaneously meant decisions had to be consistent</a:t>
            </a:r>
          </a:p>
          <a:p>
            <a:r>
              <a:t>  - "How should YAML handle nested maps?" → immediately applied the same pattern to TOML, INI, JSON</a:t>
            </a:r>
          </a:p>
          <a:p>
            <a:r>
              <a:t>  - The result: a consistent, coherent API across 4 formats</a:t>
            </a:r>
          </a:p>
          <a:p>
            <a:r>
              <a:t>  - Isolation would have produced 4 slightly inconsistent designs</a:t>
            </a:r>
          </a:p>
          <a:p/>
          <a:p>
            <a:r>
              <a:t>• This is the "activation energy" insight:</a:t>
            </a:r>
          </a:p>
          <a:p>
            <a:r>
              <a:t>  - Not just "it's faster to do the same thing"</a:t>
            </a:r>
          </a:p>
          <a:p>
            <a:r>
              <a:t>  - It changes WHAT you attempt</a:t>
            </a:r>
          </a:p>
          <a:p>
            <a:r>
              <a:t>  - Better designs emerge when the cost of ambition is lower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This is the meta-lesson: you are building AI tools for scientists who do design work</a:t>
            </a:r>
          </a:p>
          <a:p>
            <a:r>
              <a:t>• The things that changed my design process are the things scientists need:</a:t>
            </a:r>
          </a:p>
          <a:p/>
          <a:p>
            <a:r>
              <a:t>1. Instant benchmarking</a:t>
            </a:r>
          </a:p>
          <a:p>
            <a:r>
              <a:t>   - Literature access, precedent checking, tool comparisons — in-context, while designing</a:t>
            </a:r>
          </a:p>
          <a:p>
            <a:r>
              <a:t>   - Not a separate research phase</a:t>
            </a:r>
          </a:p>
          <a:p/>
          <a:p>
            <a:r>
              <a:t>2. Rapid prototyping</a:t>
            </a:r>
          </a:p>
          <a:p>
            <a:r>
              <a:t>   - Try ideas with their actual data and tools</a:t>
            </a:r>
          </a:p>
          <a:p>
            <a:r>
              <a:t>   - Low cost = willing to try things that might not work</a:t>
            </a:r>
          </a:p>
          <a:p/>
          <a:p>
            <a:r>
              <a:t>3. Help articulating reasoning</a:t>
            </a:r>
          </a:p>
          <a:p>
            <a:r>
              <a:t>   - Not just "give me the answer"</a:t>
            </a:r>
          </a:p>
          <a:p>
            <a:r>
              <a:t>   - Help saying WHY — designing better, documenting better</a:t>
            </a:r>
          </a:p>
          <a:p/>
          <a:p>
            <a:r>
              <a:t>4. Support for ambitious designs</a:t>
            </a:r>
          </a:p>
          <a:p>
            <a:r>
              <a:t>   - Lower activation energy for harder problems</a:t>
            </a:r>
          </a:p>
          <a:p>
            <a:r>
              <a:t>   - Better designs emerge when the cost of ambition is lower</a:t>
            </a:r>
          </a:p>
          <a:p/>
          <a:p>
            <a:r>
              <a:t>5. Memory and continuity</a:t>
            </a:r>
          </a:p>
          <a:p>
            <a:r>
              <a:t>   - Long projects don't restart from scratch each session</a:t>
            </a:r>
          </a:p>
          <a:p>
            <a:r>
              <a:t>   - The context lives in the artifacts, not in human memory</a:t>
            </a:r>
          </a:p>
          <a:p/>
          <a:p>
            <a:r>
              <a:t>• Turn the question back to the audience:</a:t>
            </a:r>
          </a:p>
          <a:p>
            <a:r>
              <a:t>  - You've heard what changed for me</a:t>
            </a:r>
          </a:p>
          <a:p>
            <a:r>
              <a:t>  - What would change for your users?</a:t>
            </a:r>
          </a:p>
          <a:p>
            <a:r>
              <a:t>  - What would change for YOU, as designers of these tools?</a:t>
            </a:r>
          </a:p>
          <a:p/>
          <a:p>
            <a:r>
              <a:t>• The prompt at the end is for reflection — let it land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Close on the single sentence: "The quality bar is different when you have a design partner."</a:t>
            </a:r>
          </a:p>
          <a:p>
            <a:r>
              <a:t>• Not because AI does the work for you</a:t>
            </a:r>
          </a:p>
          <a:p>
            <a:r>
              <a:t>• But because you attempt things you wouldn't attempt alone</a:t>
            </a:r>
          </a:p>
          <a:p>
            <a:r>
              <a:t>• You validate assumptions you'd otherwise skip</a:t>
            </a:r>
          </a:p>
          <a:p>
            <a:r>
              <a:t>• You document reasoning you'd otherwise lose</a:t>
            </a:r>
          </a:p>
          <a:p>
            <a:r>
              <a:t>• You work on 4 formats instead of 1</a:t>
            </a:r>
          </a:p>
          <a:p/>
          <a:p>
            <a:r>
              <a:t>• The invitation is genuine: try it on a design problem, not a coding task</a:t>
            </a:r>
          </a:p>
          <a:p>
            <a:r>
              <a:t>  - Pick a real design decision you're facing</a:t>
            </a:r>
          </a:p>
          <a:p>
            <a:r>
              <a:t>  - Use it to benchmark options, prototype quickly, articulate the rationale</a:t>
            </a:r>
          </a:p>
          <a:p>
            <a:r>
              <a:t>  - See what changes</a:t>
            </a:r>
          </a:p>
          <a:p/>
          <a:p>
            <a:r>
              <a:t>• If you've been using AI for code generation, this is a different mode</a:t>
            </a:r>
          </a:p>
          <a:p>
            <a:r>
              <a:t>  - It requires treating the AI as a collaborator, not a tool</a:t>
            </a:r>
          </a:p>
          <a:p>
            <a:r>
              <a:t>  - The spec/artifact becomes the shared memory</a:t>
            </a:r>
          </a:p>
          <a:p>
            <a:r>
              <a:t>  - The conversation drives the design</a:t>
            </a:r>
          </a:p>
          <a:p/>
          <a:p>
            <a:r>
              <a:t>• 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 sz="4000" b="1">
                <a:solidFill>
                  <a:srgbClr val="1F3663"/>
                </a:solidFill>
              </a:rPr>
              <a:t>Claude Code isn’t a coding tool—</a:t>
            </a:r>
          </a:p>
          <a:p>
            <a:pPr algn="l"/>
            <a:r>
              <a:rPr lang="en-US" dirty="0" sz="4000" b="1">
                <a:solidFill>
                  <a:srgbClr val="1F3663"/>
                </a:solidFill>
              </a:rPr>
              <a:t>it’s a design partner that happens to code.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</a:rPr>
              <a:t>Michelle Hirsch  ·  MathWorks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i="1">
                <a:solidFill>
                  <a:srgbClr val="333333"/>
                </a:solidFill>
              </a:rPr>
              <a:t>What does it mean for AI to be a design partner — not a code generator?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3000" b="1">
                <a:solidFill>
                  <a:srgbClr val="1F3663"/>
                </a:solidFill>
              </a:rPr>
              <a:t>Two concrete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72BD"/>
          </a:solidFill>
          <a:ln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solidFill>
            <a:srgbClr val="0072BD"/>
          </a:solidFill>
          <a:ln w="1270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MATLAB Documentation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34440"/>
            <a:ext cx="5394960" cy="502920"/>
          </a:xfrm>
          <a:prstGeom prst="rect">
            <a:avLst/>
          </a:prstGeom>
          <a:solidFill>
            <a:srgbClr val="1F3663"/>
          </a:solidFill>
          <a:ln w="12700">
            <a:solidFill>
              <a:srgbClr val="1F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Config File Readers &amp; Writers for MATLAB</a:t>
            </a:r>
          </a:p>
        </p:txBody>
      </p:sp>
      <p:pic>
        <p:nvPicPr>
          <p:cNvPr id="9" name="Picture 8" descr="rv5_s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596449"/>
            <a:ext cx="5684367" cy="3219582"/>
          </a:xfrm>
          <a:prstGeom prst="rect">
            <a:avLst/>
          </a:prstGeom>
        </p:spPr>
      </p:pic>
      <p:pic>
        <p:nvPicPr>
          <p:cNvPr id="10" name="Picture 9" descr="cfg_s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727" y="2597653"/>
            <a:ext cx="5684367" cy="32171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2800" b="1">
                <a:solidFill>
                  <a:srgbClr val="1F3663"/>
                </a:solidFill>
              </a:rPr>
              <a:t>Benchmarking no longer interrupts the design conversation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72BD"/>
          </a:solidFill>
          <a:ln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4754880" cy="4114800"/>
          </a:xfrm>
          <a:prstGeom prst="rect">
            <a:avLst/>
          </a:prstGeom>
          <a:solidFill>
            <a:srgbClr val="F8EEE4"/>
          </a:solidFill>
          <a:ln w="19050">
            <a:solidFill>
              <a:srgbClr val="D48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D46A1A"/>
                </a:solidFill>
              </a:rPr>
              <a:t>THE OLD WAY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
“How much do the most popular
Python tools let users customize
the format when writing TOML?”
→ ask a developer
→ developer does research
→ comes back in a week
→ (or a month)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30175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>
                <a:solidFill>
                  <a:srgbClr val="1F3663"/>
                </a:solidFill>
              </a:rPr>
              <a:t>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417320"/>
            <a:ext cx="4754880" cy="4114800"/>
          </a:xfrm>
          <a:prstGeom prst="rect">
            <a:avLst/>
          </a:prstGeom>
          <a:solidFill>
            <a:srgbClr val="E4F4EA"/>
          </a:solidFill>
          <a:ln w="19050">
            <a:solidFill>
              <a:srgbClr val="4A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7A3C"/>
                </a:solidFill>
              </a:rPr>
              <a:t>THE NEW WAY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
Same question — plus:
“Here are our design standards.”
Claude comes back with:
→ benchmarks across popular tools
→ recommended options to add
→ suggested names
→ immediately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2800" b="1">
                <a:solidFill>
                  <a:srgbClr val="1F3663"/>
                </a:solidFill>
              </a:rPr>
              <a:t>Designs get better through usage, not by staring at specs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72BD"/>
          </a:solidFill>
          <a:ln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cale_v4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842" y="1143000"/>
            <a:ext cx="4727602" cy="5623560"/>
          </a:xfrm>
          <a:prstGeom prst="rect">
            <a:avLst/>
          </a:prstGeom>
        </p:spPr>
      </p:pic>
      <p:pic>
        <p:nvPicPr>
          <p:cNvPr id="5" name="Picture 4" descr="rescale_v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7630" y="1143000"/>
            <a:ext cx="35008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2800" b="1">
                <a:solidFill>
                  <a:srgbClr val="1F3663"/>
                </a:solidFill>
              </a:rPr>
              <a:t>The spec captures not just decisions—but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72BD"/>
          </a:solidFill>
          <a:ln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663"/>
                </a:solidFill>
              </a:rPr>
              <a:t>Example: The Syntax Description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A structural tension: if you add descriptions to calling forms, you implicitly take full ownership of the syntax list.
Documented: why “section wins entirely” instead of a merge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840480"/>
            <a:ext cx="5577840" cy="2011680"/>
          </a:xfrm>
          <a:prstGeom prst="rect">
            <a:avLst/>
          </a:prstGeom>
          <a:solidFill>
            <a:srgbClr val="EEF3F9"/>
          </a:solidFill>
          <a:ln w="1270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333333"/>
                </a:solidFill>
              </a:rPr>
              <a:t>Design reasoning is normally lost. Engineers inherit decisions with no context. Here, the rationale lives in the document — alongside the decision.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440680" cy="48970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2800" b="1">
                <a:solidFill>
                  <a:srgbClr val="1F3663"/>
                </a:solidFill>
              </a:rPr>
              <a:t>Lower cost changed what I was willing to attempt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72BD"/>
          </a:solidFill>
          <a:ln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66666"/>
                </a:solidFill>
              </a:rPr>
              <a:t>Without AI: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1234440"/>
            <a:ext cx="2011680" cy="685800"/>
          </a:xfrm>
          <a:prstGeom prst="rect">
            <a:avLst/>
          </a:prstGeom>
          <a:solidFill>
            <a:srgbClr val="F8EEE4"/>
          </a:solidFill>
          <a:ln w="12700">
            <a:solidFill>
              <a:srgbClr val="D48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333333"/>
                </a:solidFill>
              </a:rPr>
              <a:t>struct
(plain dict)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46A1A"/>
                </a:solidFill>
              </a:rPr>
              <a:t>←  too daunting to design proper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663"/>
                </a:solidFill>
              </a:rPr>
              <a:t>With AI: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148840"/>
            <a:ext cx="1920240" cy="594360"/>
          </a:xfrm>
          <a:prstGeom prst="rect">
            <a:avLst/>
          </a:prstGeom>
          <a:solidFill>
            <a:srgbClr val="0072BD"/>
          </a:solidFill>
          <a:ln w="1270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YAMLData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48840"/>
            <a:ext cx="1920240" cy="594360"/>
          </a:xfrm>
          <a:prstGeom prst="rect">
            <a:avLst/>
          </a:prstGeom>
          <a:solidFill>
            <a:srgbClr val="1F3663"/>
          </a:solidFill>
          <a:ln w="12700">
            <a:solidFill>
              <a:srgbClr val="1F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TOMLData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148840"/>
            <a:ext cx="192024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INIData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148840"/>
            <a:ext cx="1920240" cy="594360"/>
          </a:xfrm>
          <a:prstGeom prst="rect">
            <a:avLst/>
          </a:prstGeom>
          <a:solidFill>
            <a:srgbClr val="6A1A9A"/>
          </a:solidFill>
          <a:ln w="12700">
            <a:solidFill>
              <a:srgbClr val="6A1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JSONData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2918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1F3663"/>
                </a:solidFill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880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Shared structure discovered → extracted base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886200"/>
            <a:ext cx="5303520" cy="640080"/>
          </a:xfrm>
          <a:prstGeom prst="rect">
            <a:avLst/>
          </a:prstGeom>
          <a:solidFill>
            <a:srgbClr val="EEF3F9"/>
          </a:solidFill>
          <a:ln w="1270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663"/>
                </a:solidFill>
              </a:rPr>
              <a:t>ConfigurationData  (shared base class)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11277295" cy="822960"/>
          </a:xfrm>
          <a:prstGeom prst="rect">
            <a:avLst/>
          </a:prstGeom>
          <a:solidFill>
            <a:srgbClr val="E4F4EA"/>
          </a:solidFill>
          <a:ln w="15240">
            <a:solidFill>
              <a:srgbClr val="4A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333333"/>
                </a:solidFill>
              </a:rPr>
              <a:t>Designing all 4 formats simultaneously drove cross-format consistency that would never have happened if each was designed in isolation.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2BD"/>
                </a:solidFill>
              </a:rPr>
              <a:t>AI doesn’t just lower effort per task — it changes what you’re willing to attempt.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777240"/>
          </a:xfrm>
          <a:prstGeom prst="rect">
            <a:avLst/>
          </a:prstGeom>
          <a:noFill/>
        </p:spPr>
        <p:txBody>
          <a:bodyPr wrap="square" anchor="t" lIns="0">
            <a:spAutoFit/>
          </a:bodyPr>
          <a:lstStyle/>
          <a:p>
            <a:pPr algn="l"/>
            <a:r>
              <a:rPr sz="3000" b="1">
                <a:solidFill>
                  <a:srgbClr val="1F3663"/>
                </a:solidFill>
              </a:rPr>
              <a:t>Why design with Claude Code?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0072BD"/>
          </a:solidFill>
          <a:ln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040880" cy="1051560"/>
          </a:xfrm>
          <a:prstGeom prst="rect">
            <a:avLst/>
          </a:prstGeom>
          <a:solidFill>
            <a:srgbClr val="EEF3F9"/>
          </a:solidFill>
          <a:ln w="1016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2200" b="1">
                <a:solidFill>
                  <a:srgbClr val="1F3663"/>
                </a:solidFill>
              </a:rPr>
              <a:t>Instant benchmarking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7040880" cy="1051560"/>
          </a:xfrm>
          <a:prstGeom prst="rect">
            <a:avLst/>
          </a:prstGeom>
          <a:solidFill>
            <a:srgbClr val="EEF3F9"/>
          </a:solidFill>
          <a:ln w="1016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2200" b="1">
                <a:solidFill>
                  <a:srgbClr val="1F3663"/>
                </a:solidFill>
              </a:rPr>
              <a:t>Rapid prototyping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11880"/>
            <a:ext cx="7040880" cy="1051560"/>
          </a:xfrm>
          <a:prstGeom prst="rect">
            <a:avLst/>
          </a:prstGeom>
          <a:solidFill>
            <a:srgbClr val="EEF3F9"/>
          </a:solidFill>
          <a:ln w="1016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2200" b="1">
                <a:solidFill>
                  <a:srgbClr val="1F3663"/>
                </a:solidFill>
              </a:rPr>
              <a:t>Keep track of decision-making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7040880" cy="1051560"/>
          </a:xfrm>
          <a:prstGeom prst="rect">
            <a:avLst/>
          </a:prstGeom>
          <a:solidFill>
            <a:srgbClr val="EEF3F9"/>
          </a:solidFill>
          <a:ln w="1016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2200" b="1">
                <a:solidFill>
                  <a:srgbClr val="1F3663"/>
                </a:solidFill>
              </a:rPr>
              <a:t>Tackle the big challenges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4023360" cy="4480560"/>
          </a:xfrm>
          <a:prstGeom prst="rect">
            <a:avLst/>
          </a:prstGeom>
          <a:solidFill>
            <a:srgbClr val="FEF9E7"/>
          </a:solidFill>
          <a:ln w="19050">
            <a:solidFill>
              <a:srgbClr val="D4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333333"/>
                </a:solidFill>
              </a:rPr>
              <a:t>“What would change about your design process if your AI could do these things for you?”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4200" b="1">
                <a:solidFill>
                  <a:srgbClr val="1F3663"/>
                </a:solidFill>
              </a:rPr>
              <a:t>Claude Code isn’t a coding tool—</a:t>
            </a:r>
          </a:p>
          <a:p>
            <a:pPr algn="ctr"/>
            <a:r>
              <a:rPr lang="en-US" dirty="0" sz="4200" b="1">
                <a:solidFill>
                  <a:srgbClr val="1F3663"/>
                </a:solidFill>
              </a:rPr>
              <a:t>it’s a design partner that happens to code.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3520440"/>
            <a:ext cx="6705295" cy="38100"/>
          </a:xfrm>
          <a:prstGeom prst="rect">
            <a:avLst/>
          </a:prstGeom>
          <a:solidFill>
            <a:srgbClr val="0072BD"/>
          </a:solidFill>
          <a:ln w="12700">
            <a:solidFill>
              <a:srgbClr val="007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 sz="2200">
                <a:solidFill>
                  <a:srgbClr val="333333"/>
                </a:solidFill>
              </a:rPr>
              <a:t>What changed for me:</a:t>
            </a:r>
          </a:p>
          <a:p>
            <a:pPr algn="l"/>
            <a:r>
              <a:rPr lang="en-US" dirty="0" sz="2200">
                <a:solidFill>
                  <a:srgbClr val="333333"/>
                </a:solidFill>
              </a:rPr>
              <a:t>•  No browser tabs — benchmarking happened inline, mid-conversation</a:t>
            </a:r>
          </a:p>
          <a:p>
            <a:pPr algn="l"/>
            <a:r>
              <a:rPr lang="en-US" dirty="0" sz="2200">
                <a:solidFill>
                  <a:srgbClr val="333333"/>
                </a:solidFill>
              </a:rPr>
              <a:t>•  Bigger bets — designing all 4 config formats in parallel revealed shared structure I’d have missed</a:t>
            </a:r>
          </a:p>
          <a:p>
            <a:pPr algn="l"/>
            <a:r>
              <a:rPr lang="en-US" dirty="0" sz="2200">
                <a:solidFill>
                  <a:srgbClr val="333333"/>
                </a:solidFill>
              </a:rPr>
              <a:t>•  Reasoning preserved — the spec captures why decisions were made, not just what they were</a:t>
            </a:r>
          </a:p>
          <a:p>
            <a:pPr algn="l"/>
            <a:r>
              <a:rPr lang="en-US" dirty="0" sz="2200">
                <a:solidFill>
                  <a:srgbClr val="333333"/>
                </a:solidFill>
              </a:rPr>
              <a:t/>
            </a:r>
          </a:p>
          <a:p>
            <a:pPr algn="l"/>
            <a:r>
              <a:rPr lang="en-US" dirty="0" sz="2200">
                <a:solidFill>
                  <a:srgbClr val="333333"/>
                </a:solidFill>
              </a:rPr>
              <a:t>→ Try it on a design challenge—not your next coding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